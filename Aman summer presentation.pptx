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CF6152-BFA8-4181-8EE6-5A3B457C51E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IN"/>
        </a:p>
      </dgm:t>
    </dgm:pt>
    <dgm:pt modelId="{B1239C02-6BC5-4DCF-889F-28D328E30122}">
      <dgm:prSet phldrT="[Text]"/>
      <dgm:spPr/>
      <dgm:t>
        <a:bodyPr/>
        <a:lstStyle/>
        <a:p>
          <a:pPr>
            <a:lnSpc>
              <a:spcPct val="100000"/>
            </a:lnSpc>
          </a:pPr>
          <a:r>
            <a:rPr lang="en-US"/>
            <a:t>Form Validation and User Feedback</a:t>
          </a:r>
          <a:endParaRPr lang="en-IN"/>
        </a:p>
      </dgm:t>
    </dgm:pt>
    <dgm:pt modelId="{810A9FA3-73F2-4E1E-98EB-70EB2235FFEB}" type="parTrans" cxnId="{3ABB17D7-26F8-4E8C-A229-9E169C67822F}">
      <dgm:prSet/>
      <dgm:spPr/>
      <dgm:t>
        <a:bodyPr/>
        <a:lstStyle/>
        <a:p>
          <a:endParaRPr lang="en-IN"/>
        </a:p>
      </dgm:t>
    </dgm:pt>
    <dgm:pt modelId="{48348687-65E1-405A-B91A-C6AE80578283}" type="sibTrans" cxnId="{3ABB17D7-26F8-4E8C-A229-9E169C67822F}">
      <dgm:prSet/>
      <dgm:spPr/>
      <dgm:t>
        <a:bodyPr/>
        <a:lstStyle/>
        <a:p>
          <a:endParaRPr lang="en-IN"/>
        </a:p>
      </dgm:t>
    </dgm:pt>
    <dgm:pt modelId="{C10BA8F8-0B8A-494F-915F-71FFD7204D4D}">
      <dgm:prSet phldrT="[Text]"/>
      <dgm:spPr/>
      <dgm:t>
        <a:bodyPr/>
        <a:lstStyle/>
        <a:p>
          <a:pPr>
            <a:lnSpc>
              <a:spcPct val="100000"/>
            </a:lnSpc>
          </a:pPr>
          <a:r>
            <a:rPr lang="en-US"/>
            <a:t>Real-time Updates and Data Manipulation</a:t>
          </a:r>
          <a:endParaRPr lang="en-IN"/>
        </a:p>
      </dgm:t>
    </dgm:pt>
    <dgm:pt modelId="{C82BA0F9-AF3F-41EA-A274-46EE2869CDEE}" type="parTrans" cxnId="{2D4C56F7-7567-48D7-90D9-E1E961F4CA2F}">
      <dgm:prSet/>
      <dgm:spPr/>
      <dgm:t>
        <a:bodyPr/>
        <a:lstStyle/>
        <a:p>
          <a:endParaRPr lang="en-IN"/>
        </a:p>
      </dgm:t>
    </dgm:pt>
    <dgm:pt modelId="{A95F0AF6-3A16-4AB4-A16E-910AD629C635}" type="sibTrans" cxnId="{2D4C56F7-7567-48D7-90D9-E1E961F4CA2F}">
      <dgm:prSet/>
      <dgm:spPr/>
      <dgm:t>
        <a:bodyPr/>
        <a:lstStyle/>
        <a:p>
          <a:endParaRPr lang="en-IN"/>
        </a:p>
      </dgm:t>
    </dgm:pt>
    <dgm:pt modelId="{3DF4DB21-CC29-46A1-B2B1-3099BFCC5C11}">
      <dgm:prSet phldrT="[Text]"/>
      <dgm:spPr/>
      <dgm:t>
        <a:bodyPr/>
        <a:lstStyle/>
        <a:p>
          <a:pPr>
            <a:lnSpc>
              <a:spcPct val="100000"/>
            </a:lnSpc>
          </a:pPr>
          <a:r>
            <a:rPr lang="en-US"/>
            <a:t>Interactivity and User Experience Enhancement</a:t>
          </a:r>
          <a:endParaRPr lang="en-IN"/>
        </a:p>
      </dgm:t>
    </dgm:pt>
    <dgm:pt modelId="{C6FE119F-FD96-45C9-81C7-F841FA05DF9C}" type="parTrans" cxnId="{43DEEEDC-8B1E-476E-B2CB-8EC5C6DEDAE9}">
      <dgm:prSet/>
      <dgm:spPr/>
      <dgm:t>
        <a:bodyPr/>
        <a:lstStyle/>
        <a:p>
          <a:endParaRPr lang="en-IN"/>
        </a:p>
      </dgm:t>
    </dgm:pt>
    <dgm:pt modelId="{63A81EDD-0CE0-4EC7-A771-C88B853F1313}" type="sibTrans" cxnId="{43DEEEDC-8B1E-476E-B2CB-8EC5C6DEDAE9}">
      <dgm:prSet/>
      <dgm:spPr/>
      <dgm:t>
        <a:bodyPr/>
        <a:lstStyle/>
        <a:p>
          <a:endParaRPr lang="en-IN"/>
        </a:p>
      </dgm:t>
    </dgm:pt>
    <dgm:pt modelId="{82A6F8BE-EC7C-4545-9170-5F4C0A57B729}">
      <dgm:prSet phldrT="[Text]"/>
      <dgm:spPr/>
      <dgm:t>
        <a:bodyPr/>
        <a:lstStyle/>
        <a:p>
          <a:pPr>
            <a:lnSpc>
              <a:spcPct val="100000"/>
            </a:lnSpc>
          </a:pPr>
          <a:r>
            <a:rPr lang="en-IN"/>
            <a:t> Animations and Visual Effects</a:t>
          </a:r>
        </a:p>
      </dgm:t>
    </dgm:pt>
    <dgm:pt modelId="{6B36A6C6-DAD7-4536-B745-3ED119A2BA81}" type="parTrans" cxnId="{EE576ECB-FA9F-4091-A658-E97C0173B879}">
      <dgm:prSet/>
      <dgm:spPr/>
      <dgm:t>
        <a:bodyPr/>
        <a:lstStyle/>
        <a:p>
          <a:endParaRPr lang="en-IN"/>
        </a:p>
      </dgm:t>
    </dgm:pt>
    <dgm:pt modelId="{8FD583BB-2246-473E-BD76-7D62F80C4F22}" type="sibTrans" cxnId="{EE576ECB-FA9F-4091-A658-E97C0173B879}">
      <dgm:prSet/>
      <dgm:spPr/>
      <dgm:t>
        <a:bodyPr/>
        <a:lstStyle/>
        <a:p>
          <a:endParaRPr lang="en-IN"/>
        </a:p>
      </dgm:t>
    </dgm:pt>
    <dgm:pt modelId="{0C8CEBAE-F668-4ADD-B010-7BC7BF37E6F7}" type="pres">
      <dgm:prSet presAssocID="{CDCF6152-BFA8-4181-8EE6-5A3B457C51EB}" presName="root" presStyleCnt="0">
        <dgm:presLayoutVars>
          <dgm:dir/>
          <dgm:resizeHandles val="exact"/>
        </dgm:presLayoutVars>
      </dgm:prSet>
      <dgm:spPr/>
    </dgm:pt>
    <dgm:pt modelId="{542E9805-7D8C-43EC-83B0-A2206BD60394}" type="pres">
      <dgm:prSet presAssocID="{B1239C02-6BC5-4DCF-889F-28D328E30122}" presName="compNode" presStyleCnt="0"/>
      <dgm:spPr/>
    </dgm:pt>
    <dgm:pt modelId="{38562D26-5881-4641-931B-ECEA020ECD22}" type="pres">
      <dgm:prSet presAssocID="{B1239C02-6BC5-4DCF-889F-28D328E3012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74E380BF-7AB7-4EED-85D7-26BC720A9049}" type="pres">
      <dgm:prSet presAssocID="{B1239C02-6BC5-4DCF-889F-28D328E30122}" presName="spaceRect" presStyleCnt="0"/>
      <dgm:spPr/>
    </dgm:pt>
    <dgm:pt modelId="{9D1E8FD1-7F21-4EFB-8D89-4A89C7901BF6}" type="pres">
      <dgm:prSet presAssocID="{B1239C02-6BC5-4DCF-889F-28D328E30122}" presName="textRect" presStyleLbl="revTx" presStyleIdx="0" presStyleCnt="4">
        <dgm:presLayoutVars>
          <dgm:chMax val="1"/>
          <dgm:chPref val="1"/>
        </dgm:presLayoutVars>
      </dgm:prSet>
      <dgm:spPr/>
    </dgm:pt>
    <dgm:pt modelId="{BDD11E2B-B654-487F-9273-51F67125F7FF}" type="pres">
      <dgm:prSet presAssocID="{48348687-65E1-405A-B91A-C6AE80578283}" presName="sibTrans" presStyleCnt="0"/>
      <dgm:spPr/>
    </dgm:pt>
    <dgm:pt modelId="{10DFC36A-3575-49BB-AA39-6DDC6105F48B}" type="pres">
      <dgm:prSet presAssocID="{C10BA8F8-0B8A-494F-915F-71FFD7204D4D}" presName="compNode" presStyleCnt="0"/>
      <dgm:spPr/>
    </dgm:pt>
    <dgm:pt modelId="{273E2B1D-C1DA-4272-8058-1CD5DF242C2D}" type="pres">
      <dgm:prSet presAssocID="{C10BA8F8-0B8A-494F-915F-71FFD7204D4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602E2060-E9A7-427A-8FB2-0F09C3B0BA14}" type="pres">
      <dgm:prSet presAssocID="{C10BA8F8-0B8A-494F-915F-71FFD7204D4D}" presName="spaceRect" presStyleCnt="0"/>
      <dgm:spPr/>
    </dgm:pt>
    <dgm:pt modelId="{0FD9E37A-4FBE-4A78-A39E-19C01B8CE5D6}" type="pres">
      <dgm:prSet presAssocID="{C10BA8F8-0B8A-494F-915F-71FFD7204D4D}" presName="textRect" presStyleLbl="revTx" presStyleIdx="1" presStyleCnt="4">
        <dgm:presLayoutVars>
          <dgm:chMax val="1"/>
          <dgm:chPref val="1"/>
        </dgm:presLayoutVars>
      </dgm:prSet>
      <dgm:spPr/>
    </dgm:pt>
    <dgm:pt modelId="{56C39E68-4A5C-4CC2-9231-59A2E60C4A9C}" type="pres">
      <dgm:prSet presAssocID="{A95F0AF6-3A16-4AB4-A16E-910AD629C635}" presName="sibTrans" presStyleCnt="0"/>
      <dgm:spPr/>
    </dgm:pt>
    <dgm:pt modelId="{A61DBA62-006B-4B4D-9F5B-D6242E1DBAB4}" type="pres">
      <dgm:prSet presAssocID="{3DF4DB21-CC29-46A1-B2B1-3099BFCC5C11}" presName="compNode" presStyleCnt="0"/>
      <dgm:spPr/>
    </dgm:pt>
    <dgm:pt modelId="{70F001D3-2988-4007-8286-0EF52C936CE1}" type="pres">
      <dgm:prSet presAssocID="{3DF4DB21-CC29-46A1-B2B1-3099BFCC5C1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mart Phone"/>
        </a:ext>
      </dgm:extLst>
    </dgm:pt>
    <dgm:pt modelId="{F062C684-7AAC-45BB-932C-61AE267B4CEC}" type="pres">
      <dgm:prSet presAssocID="{3DF4DB21-CC29-46A1-B2B1-3099BFCC5C11}" presName="spaceRect" presStyleCnt="0"/>
      <dgm:spPr/>
    </dgm:pt>
    <dgm:pt modelId="{E72DA687-BB5B-4479-A387-4B3011421FC8}" type="pres">
      <dgm:prSet presAssocID="{3DF4DB21-CC29-46A1-B2B1-3099BFCC5C11}" presName="textRect" presStyleLbl="revTx" presStyleIdx="2" presStyleCnt="4">
        <dgm:presLayoutVars>
          <dgm:chMax val="1"/>
          <dgm:chPref val="1"/>
        </dgm:presLayoutVars>
      </dgm:prSet>
      <dgm:spPr/>
    </dgm:pt>
    <dgm:pt modelId="{1BFEE23E-D897-42E7-8F77-2C56EAC6A3DD}" type="pres">
      <dgm:prSet presAssocID="{63A81EDD-0CE0-4EC7-A771-C88B853F1313}" presName="sibTrans" presStyleCnt="0"/>
      <dgm:spPr/>
    </dgm:pt>
    <dgm:pt modelId="{E9DA1B2A-84BF-436A-BB73-79D3859DE02D}" type="pres">
      <dgm:prSet presAssocID="{82A6F8BE-EC7C-4545-9170-5F4C0A57B729}" presName="compNode" presStyleCnt="0"/>
      <dgm:spPr/>
    </dgm:pt>
    <dgm:pt modelId="{A293A048-9D2C-407B-80A0-6C2BFEE19C7C}" type="pres">
      <dgm:prSet presAssocID="{82A6F8BE-EC7C-4545-9170-5F4C0A57B72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Video camera"/>
        </a:ext>
      </dgm:extLst>
    </dgm:pt>
    <dgm:pt modelId="{8D33C9E0-A019-4FAB-9AAA-6BFD6A46865E}" type="pres">
      <dgm:prSet presAssocID="{82A6F8BE-EC7C-4545-9170-5F4C0A57B729}" presName="spaceRect" presStyleCnt="0"/>
      <dgm:spPr/>
    </dgm:pt>
    <dgm:pt modelId="{8D8993AB-7176-404A-A877-F82FA73A00C2}" type="pres">
      <dgm:prSet presAssocID="{82A6F8BE-EC7C-4545-9170-5F4C0A57B729}" presName="textRect" presStyleLbl="revTx" presStyleIdx="3" presStyleCnt="4">
        <dgm:presLayoutVars>
          <dgm:chMax val="1"/>
          <dgm:chPref val="1"/>
        </dgm:presLayoutVars>
      </dgm:prSet>
      <dgm:spPr/>
    </dgm:pt>
  </dgm:ptLst>
  <dgm:cxnLst>
    <dgm:cxn modelId="{ED5AC403-AB8B-4F2D-A51B-28FB3565F8BF}" type="presOf" srcId="{82A6F8BE-EC7C-4545-9170-5F4C0A57B729}" destId="{8D8993AB-7176-404A-A877-F82FA73A00C2}" srcOrd="0" destOrd="0" presId="urn:microsoft.com/office/officeart/2018/2/layout/IconLabelList"/>
    <dgm:cxn modelId="{444EC63C-FBEC-43FC-BB57-CD990580972B}" type="presOf" srcId="{CDCF6152-BFA8-4181-8EE6-5A3B457C51EB}" destId="{0C8CEBAE-F668-4ADD-B010-7BC7BF37E6F7}" srcOrd="0" destOrd="0" presId="urn:microsoft.com/office/officeart/2018/2/layout/IconLabelList"/>
    <dgm:cxn modelId="{A32E0EA7-ABFC-4488-A6C5-87EFCA0DB392}" type="presOf" srcId="{3DF4DB21-CC29-46A1-B2B1-3099BFCC5C11}" destId="{E72DA687-BB5B-4479-A387-4B3011421FC8}" srcOrd="0" destOrd="0" presId="urn:microsoft.com/office/officeart/2018/2/layout/IconLabelList"/>
    <dgm:cxn modelId="{82ED3FB9-E84A-4851-9E44-18EFABB9CCF8}" type="presOf" srcId="{C10BA8F8-0B8A-494F-915F-71FFD7204D4D}" destId="{0FD9E37A-4FBE-4A78-A39E-19C01B8CE5D6}" srcOrd="0" destOrd="0" presId="urn:microsoft.com/office/officeart/2018/2/layout/IconLabelList"/>
    <dgm:cxn modelId="{EE576ECB-FA9F-4091-A658-E97C0173B879}" srcId="{CDCF6152-BFA8-4181-8EE6-5A3B457C51EB}" destId="{82A6F8BE-EC7C-4545-9170-5F4C0A57B729}" srcOrd="3" destOrd="0" parTransId="{6B36A6C6-DAD7-4536-B745-3ED119A2BA81}" sibTransId="{8FD583BB-2246-473E-BD76-7D62F80C4F22}"/>
    <dgm:cxn modelId="{3ABB17D7-26F8-4E8C-A229-9E169C67822F}" srcId="{CDCF6152-BFA8-4181-8EE6-5A3B457C51EB}" destId="{B1239C02-6BC5-4DCF-889F-28D328E30122}" srcOrd="0" destOrd="0" parTransId="{810A9FA3-73F2-4E1E-98EB-70EB2235FFEB}" sibTransId="{48348687-65E1-405A-B91A-C6AE80578283}"/>
    <dgm:cxn modelId="{43DEEEDC-8B1E-476E-B2CB-8EC5C6DEDAE9}" srcId="{CDCF6152-BFA8-4181-8EE6-5A3B457C51EB}" destId="{3DF4DB21-CC29-46A1-B2B1-3099BFCC5C11}" srcOrd="2" destOrd="0" parTransId="{C6FE119F-FD96-45C9-81C7-F841FA05DF9C}" sibTransId="{63A81EDD-0CE0-4EC7-A771-C88B853F1313}"/>
    <dgm:cxn modelId="{2D4C56F7-7567-48D7-90D9-E1E961F4CA2F}" srcId="{CDCF6152-BFA8-4181-8EE6-5A3B457C51EB}" destId="{C10BA8F8-0B8A-494F-915F-71FFD7204D4D}" srcOrd="1" destOrd="0" parTransId="{C82BA0F9-AF3F-41EA-A274-46EE2869CDEE}" sibTransId="{A95F0AF6-3A16-4AB4-A16E-910AD629C635}"/>
    <dgm:cxn modelId="{65BCD6F9-29D7-4DB2-B006-1996C2E1FA25}" type="presOf" srcId="{B1239C02-6BC5-4DCF-889F-28D328E30122}" destId="{9D1E8FD1-7F21-4EFB-8D89-4A89C7901BF6}" srcOrd="0" destOrd="0" presId="urn:microsoft.com/office/officeart/2018/2/layout/IconLabelList"/>
    <dgm:cxn modelId="{D5806D96-A42E-4B00-8235-DED9ABE904DC}" type="presParOf" srcId="{0C8CEBAE-F668-4ADD-B010-7BC7BF37E6F7}" destId="{542E9805-7D8C-43EC-83B0-A2206BD60394}" srcOrd="0" destOrd="0" presId="urn:microsoft.com/office/officeart/2018/2/layout/IconLabelList"/>
    <dgm:cxn modelId="{F7DA67E6-01A5-409E-A6A1-1B92EAA32CA7}" type="presParOf" srcId="{542E9805-7D8C-43EC-83B0-A2206BD60394}" destId="{38562D26-5881-4641-931B-ECEA020ECD22}" srcOrd="0" destOrd="0" presId="urn:microsoft.com/office/officeart/2018/2/layout/IconLabelList"/>
    <dgm:cxn modelId="{534BD1F4-E855-419F-9AF5-CB5C0434966F}" type="presParOf" srcId="{542E9805-7D8C-43EC-83B0-A2206BD60394}" destId="{74E380BF-7AB7-4EED-85D7-26BC720A9049}" srcOrd="1" destOrd="0" presId="urn:microsoft.com/office/officeart/2018/2/layout/IconLabelList"/>
    <dgm:cxn modelId="{D17F7C74-AB4A-481B-9AA6-C657DC655E84}" type="presParOf" srcId="{542E9805-7D8C-43EC-83B0-A2206BD60394}" destId="{9D1E8FD1-7F21-4EFB-8D89-4A89C7901BF6}" srcOrd="2" destOrd="0" presId="urn:microsoft.com/office/officeart/2018/2/layout/IconLabelList"/>
    <dgm:cxn modelId="{BEAE748A-7846-46CE-BC65-F0F3A5FD6D79}" type="presParOf" srcId="{0C8CEBAE-F668-4ADD-B010-7BC7BF37E6F7}" destId="{BDD11E2B-B654-487F-9273-51F67125F7FF}" srcOrd="1" destOrd="0" presId="urn:microsoft.com/office/officeart/2018/2/layout/IconLabelList"/>
    <dgm:cxn modelId="{D89E02AA-FC36-4991-AAF0-AB704F4D6676}" type="presParOf" srcId="{0C8CEBAE-F668-4ADD-B010-7BC7BF37E6F7}" destId="{10DFC36A-3575-49BB-AA39-6DDC6105F48B}" srcOrd="2" destOrd="0" presId="urn:microsoft.com/office/officeart/2018/2/layout/IconLabelList"/>
    <dgm:cxn modelId="{10C94733-036D-467B-9B31-35418C915F8A}" type="presParOf" srcId="{10DFC36A-3575-49BB-AA39-6DDC6105F48B}" destId="{273E2B1D-C1DA-4272-8058-1CD5DF242C2D}" srcOrd="0" destOrd="0" presId="urn:microsoft.com/office/officeart/2018/2/layout/IconLabelList"/>
    <dgm:cxn modelId="{3372AEC2-7B62-413A-B59F-7C733D286505}" type="presParOf" srcId="{10DFC36A-3575-49BB-AA39-6DDC6105F48B}" destId="{602E2060-E9A7-427A-8FB2-0F09C3B0BA14}" srcOrd="1" destOrd="0" presId="urn:microsoft.com/office/officeart/2018/2/layout/IconLabelList"/>
    <dgm:cxn modelId="{2692D072-09CA-4A26-BEF8-30F7CE220BE4}" type="presParOf" srcId="{10DFC36A-3575-49BB-AA39-6DDC6105F48B}" destId="{0FD9E37A-4FBE-4A78-A39E-19C01B8CE5D6}" srcOrd="2" destOrd="0" presId="urn:microsoft.com/office/officeart/2018/2/layout/IconLabelList"/>
    <dgm:cxn modelId="{107D28D8-B93C-4D60-9438-430543B7732C}" type="presParOf" srcId="{0C8CEBAE-F668-4ADD-B010-7BC7BF37E6F7}" destId="{56C39E68-4A5C-4CC2-9231-59A2E60C4A9C}" srcOrd="3" destOrd="0" presId="urn:microsoft.com/office/officeart/2018/2/layout/IconLabelList"/>
    <dgm:cxn modelId="{BD2C4EAF-71D5-48F2-A34E-5458200E97C7}" type="presParOf" srcId="{0C8CEBAE-F668-4ADD-B010-7BC7BF37E6F7}" destId="{A61DBA62-006B-4B4D-9F5B-D6242E1DBAB4}" srcOrd="4" destOrd="0" presId="urn:microsoft.com/office/officeart/2018/2/layout/IconLabelList"/>
    <dgm:cxn modelId="{AEA4D4AD-4002-4F81-9FAA-5165CCEBEE1A}" type="presParOf" srcId="{A61DBA62-006B-4B4D-9F5B-D6242E1DBAB4}" destId="{70F001D3-2988-4007-8286-0EF52C936CE1}" srcOrd="0" destOrd="0" presId="urn:microsoft.com/office/officeart/2018/2/layout/IconLabelList"/>
    <dgm:cxn modelId="{B84A4984-7C7A-4572-A072-A8FCDA0B9172}" type="presParOf" srcId="{A61DBA62-006B-4B4D-9F5B-D6242E1DBAB4}" destId="{F062C684-7AAC-45BB-932C-61AE267B4CEC}" srcOrd="1" destOrd="0" presId="urn:microsoft.com/office/officeart/2018/2/layout/IconLabelList"/>
    <dgm:cxn modelId="{5CC36F46-FD24-4129-986C-53FC0512D670}" type="presParOf" srcId="{A61DBA62-006B-4B4D-9F5B-D6242E1DBAB4}" destId="{E72DA687-BB5B-4479-A387-4B3011421FC8}" srcOrd="2" destOrd="0" presId="urn:microsoft.com/office/officeart/2018/2/layout/IconLabelList"/>
    <dgm:cxn modelId="{63F9B0F8-8E51-46DE-B71E-3B5966A9F7D3}" type="presParOf" srcId="{0C8CEBAE-F668-4ADD-B010-7BC7BF37E6F7}" destId="{1BFEE23E-D897-42E7-8F77-2C56EAC6A3DD}" srcOrd="5" destOrd="0" presId="urn:microsoft.com/office/officeart/2018/2/layout/IconLabelList"/>
    <dgm:cxn modelId="{C8C8696B-9E58-4699-82CD-B608A119212A}" type="presParOf" srcId="{0C8CEBAE-F668-4ADD-B010-7BC7BF37E6F7}" destId="{E9DA1B2A-84BF-436A-BB73-79D3859DE02D}" srcOrd="6" destOrd="0" presId="urn:microsoft.com/office/officeart/2018/2/layout/IconLabelList"/>
    <dgm:cxn modelId="{D3481693-50A8-4ACD-B721-8C8E92AF9843}" type="presParOf" srcId="{E9DA1B2A-84BF-436A-BB73-79D3859DE02D}" destId="{A293A048-9D2C-407B-80A0-6C2BFEE19C7C}" srcOrd="0" destOrd="0" presId="urn:microsoft.com/office/officeart/2018/2/layout/IconLabelList"/>
    <dgm:cxn modelId="{D7285976-38BD-450E-8933-60DAA7653977}" type="presParOf" srcId="{E9DA1B2A-84BF-436A-BB73-79D3859DE02D}" destId="{8D33C9E0-A019-4FAB-9AAA-6BFD6A46865E}" srcOrd="1" destOrd="0" presId="urn:microsoft.com/office/officeart/2018/2/layout/IconLabelList"/>
    <dgm:cxn modelId="{F7A62972-6A78-41C5-9F91-7965D59CC1B4}" type="presParOf" srcId="{E9DA1B2A-84BF-436A-BB73-79D3859DE02D}" destId="{8D8993AB-7176-404A-A877-F82FA73A00C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62D26-5881-4641-931B-ECEA020ECD22}">
      <dsp:nvSpPr>
        <dsp:cNvPr id="0" name=""/>
        <dsp:cNvSpPr/>
      </dsp:nvSpPr>
      <dsp:spPr>
        <a:xfrm>
          <a:off x="1356504" y="293478"/>
          <a:ext cx="805253" cy="8052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1E8FD1-7F21-4EFB-8D89-4A89C7901BF6}">
      <dsp:nvSpPr>
        <dsp:cNvPr id="0" name=""/>
        <dsp:cNvSpPr/>
      </dsp:nvSpPr>
      <dsp:spPr>
        <a:xfrm>
          <a:off x="864404" y="1376668"/>
          <a:ext cx="1789453" cy="71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Form Validation and User Feedback</a:t>
          </a:r>
          <a:endParaRPr lang="en-IN" sz="1500" kern="1200"/>
        </a:p>
      </dsp:txBody>
      <dsp:txXfrm>
        <a:off x="864404" y="1376668"/>
        <a:ext cx="1789453" cy="715781"/>
      </dsp:txXfrm>
    </dsp:sp>
    <dsp:sp modelId="{273E2B1D-C1DA-4272-8058-1CD5DF242C2D}">
      <dsp:nvSpPr>
        <dsp:cNvPr id="0" name=""/>
        <dsp:cNvSpPr/>
      </dsp:nvSpPr>
      <dsp:spPr>
        <a:xfrm>
          <a:off x="3459111" y="293478"/>
          <a:ext cx="805253" cy="8052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D9E37A-4FBE-4A78-A39E-19C01B8CE5D6}">
      <dsp:nvSpPr>
        <dsp:cNvPr id="0" name=""/>
        <dsp:cNvSpPr/>
      </dsp:nvSpPr>
      <dsp:spPr>
        <a:xfrm>
          <a:off x="2967012" y="1376668"/>
          <a:ext cx="1789453" cy="71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Real-time Updates and Data Manipulation</a:t>
          </a:r>
          <a:endParaRPr lang="en-IN" sz="1500" kern="1200"/>
        </a:p>
      </dsp:txBody>
      <dsp:txXfrm>
        <a:off x="2967012" y="1376668"/>
        <a:ext cx="1789453" cy="715781"/>
      </dsp:txXfrm>
    </dsp:sp>
    <dsp:sp modelId="{70F001D3-2988-4007-8286-0EF52C936CE1}">
      <dsp:nvSpPr>
        <dsp:cNvPr id="0" name=""/>
        <dsp:cNvSpPr/>
      </dsp:nvSpPr>
      <dsp:spPr>
        <a:xfrm>
          <a:off x="1356504" y="2539812"/>
          <a:ext cx="805253" cy="8052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2DA687-BB5B-4479-A387-4B3011421FC8}">
      <dsp:nvSpPr>
        <dsp:cNvPr id="0" name=""/>
        <dsp:cNvSpPr/>
      </dsp:nvSpPr>
      <dsp:spPr>
        <a:xfrm>
          <a:off x="864404" y="3623002"/>
          <a:ext cx="1789453" cy="71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Interactivity and User Experience Enhancement</a:t>
          </a:r>
          <a:endParaRPr lang="en-IN" sz="1500" kern="1200"/>
        </a:p>
      </dsp:txBody>
      <dsp:txXfrm>
        <a:off x="864404" y="3623002"/>
        <a:ext cx="1789453" cy="715781"/>
      </dsp:txXfrm>
    </dsp:sp>
    <dsp:sp modelId="{A293A048-9D2C-407B-80A0-6C2BFEE19C7C}">
      <dsp:nvSpPr>
        <dsp:cNvPr id="0" name=""/>
        <dsp:cNvSpPr/>
      </dsp:nvSpPr>
      <dsp:spPr>
        <a:xfrm>
          <a:off x="3459111" y="2539812"/>
          <a:ext cx="805253" cy="80525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993AB-7176-404A-A877-F82FA73A00C2}">
      <dsp:nvSpPr>
        <dsp:cNvPr id="0" name=""/>
        <dsp:cNvSpPr/>
      </dsp:nvSpPr>
      <dsp:spPr>
        <a:xfrm>
          <a:off x="2967012" y="3623002"/>
          <a:ext cx="1789453" cy="71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IN" sz="1500" kern="1200"/>
            <a:t> Animations and Visual Effects</a:t>
          </a:r>
        </a:p>
      </dsp:txBody>
      <dsp:txXfrm>
        <a:off x="2967012" y="3623002"/>
        <a:ext cx="1789453" cy="71578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04928-78D9-264F-762E-DB040F6D30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419473-AF1B-F33D-06ED-A5B6B965D2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908183-E814-3832-5F0E-B43FDDBBD3C7}"/>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5" name="Footer Placeholder 4">
            <a:extLst>
              <a:ext uri="{FF2B5EF4-FFF2-40B4-BE49-F238E27FC236}">
                <a16:creationId xmlns:a16="http://schemas.microsoft.com/office/drawing/2014/main" id="{BC520D0C-018C-F19A-A149-22FD2F7BED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B135FD-0F8E-DBAA-EE25-6857C549B9AF}"/>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3081899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AFB75-384A-F029-CAED-2AC722082C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482374-FBAA-A1BA-9E3B-CAC6AE52E7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6DF397-3F5A-995C-C136-4EB28ACC69ED}"/>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5" name="Footer Placeholder 4">
            <a:extLst>
              <a:ext uri="{FF2B5EF4-FFF2-40B4-BE49-F238E27FC236}">
                <a16:creationId xmlns:a16="http://schemas.microsoft.com/office/drawing/2014/main" id="{FDF03965-FC12-BBB6-78C9-65E8D0F288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89A239-F61B-12C2-4B16-50BCB617FF96}"/>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5099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04333-4D89-3C2E-2025-7D26DFD2FB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597E75-7F0C-2950-104A-6781D017AC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FA6791-809A-1872-BE91-97A038F3C9B1}"/>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5" name="Footer Placeholder 4">
            <a:extLst>
              <a:ext uri="{FF2B5EF4-FFF2-40B4-BE49-F238E27FC236}">
                <a16:creationId xmlns:a16="http://schemas.microsoft.com/office/drawing/2014/main" id="{0698AF8C-181D-1119-2F16-94FD80E81B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C905B2-19B9-6FC5-12D8-0B5C018DB0BC}"/>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3790445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9A41-6EF1-D328-CB43-EAF96A5E51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A7160F-C5FA-8BDF-2E04-068DCD6807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6D03DE-D632-D3EC-148C-DC47AC5799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65F36E-33E9-856A-DAB5-8905EF4A7AF7}"/>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6" name="Footer Placeholder 5">
            <a:extLst>
              <a:ext uri="{FF2B5EF4-FFF2-40B4-BE49-F238E27FC236}">
                <a16:creationId xmlns:a16="http://schemas.microsoft.com/office/drawing/2014/main" id="{78C08FF9-6BA0-77A8-5A00-20A1B34F52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819246-83F1-12E4-37D6-C3793979C5A3}"/>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1104676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5BA1-4F25-C923-7AAC-7EA0836697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4A8C61-E8BD-B94D-7200-C1B6CB2FAE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E6565-83AC-9A1B-0015-FF10C2E5B2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81BF92-2ABD-D427-D8D8-AC0742B453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528D0D-ABC6-6CBC-D4A2-DC7153B9A5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9AEB52-B397-E4E6-7532-DAE40BFAAA0B}"/>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8" name="Footer Placeholder 7">
            <a:extLst>
              <a:ext uri="{FF2B5EF4-FFF2-40B4-BE49-F238E27FC236}">
                <a16:creationId xmlns:a16="http://schemas.microsoft.com/office/drawing/2014/main" id="{71927E75-C3CA-2D91-2B59-590F6840EE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A8C34B-DBA4-A926-AA47-FC3EA757C71B}"/>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1238991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E83E-E7E2-7E24-B442-3A131E7698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FAA5B7-5351-AE8C-319B-87976184F1B3}"/>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4" name="Footer Placeholder 3">
            <a:extLst>
              <a:ext uri="{FF2B5EF4-FFF2-40B4-BE49-F238E27FC236}">
                <a16:creationId xmlns:a16="http://schemas.microsoft.com/office/drawing/2014/main" id="{6F7C8507-0649-5596-FB36-C2B13FD484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22BCB96-BA41-A278-2A07-20478E541A9D}"/>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3335404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660DB-3950-5D1D-4DFD-082F3B91B120}"/>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3" name="Footer Placeholder 2">
            <a:extLst>
              <a:ext uri="{FF2B5EF4-FFF2-40B4-BE49-F238E27FC236}">
                <a16:creationId xmlns:a16="http://schemas.microsoft.com/office/drawing/2014/main" id="{DF88DAC6-2A9F-5A1F-6A01-23A4841A0F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0E3A19-5A83-28DD-60A5-D1D5670B027E}"/>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287247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C5F67-D55C-74B3-F91B-6F09DDDDDE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EB0ED7-B41B-EAD7-0CAC-FD0BBBB4BF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A95D14-F479-5ECC-3598-1280BB360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229AE9-D007-6C50-62D3-A4989C170469}"/>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6" name="Footer Placeholder 5">
            <a:extLst>
              <a:ext uri="{FF2B5EF4-FFF2-40B4-BE49-F238E27FC236}">
                <a16:creationId xmlns:a16="http://schemas.microsoft.com/office/drawing/2014/main" id="{5FEA1D6A-E2A5-76A8-23DC-5D0BA38670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70A518-BB8D-59EB-718C-C4117D1854C9}"/>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2675283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8B12-C056-850D-B8F0-3C83A90092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0E8A42-F22F-C024-13AF-0E8698F127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08D05A-B87A-5EDB-F4A3-EB0D6CD81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CA7E20-6154-93BB-A636-DB1606C614B3}"/>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6" name="Footer Placeholder 5">
            <a:extLst>
              <a:ext uri="{FF2B5EF4-FFF2-40B4-BE49-F238E27FC236}">
                <a16:creationId xmlns:a16="http://schemas.microsoft.com/office/drawing/2014/main" id="{A5862E21-5692-8A7A-069B-110C17526F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A9DA81-7738-C690-0569-F04B77E6354F}"/>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865749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D594B-F1CE-49D9-0FA5-3B1EF5DA64B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65EF6D-941F-878A-4F86-B9A04AA4B5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361748-8F82-9E83-BED8-A50CC6601D73}"/>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5" name="Footer Placeholder 4">
            <a:extLst>
              <a:ext uri="{FF2B5EF4-FFF2-40B4-BE49-F238E27FC236}">
                <a16:creationId xmlns:a16="http://schemas.microsoft.com/office/drawing/2014/main" id="{E8689E0A-10CA-4BE1-9A7F-1033BA0394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A5D412-227B-BCC6-9B9A-16E0B15FE0B5}"/>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2333562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DF40F-CB80-434E-BE59-69C9EAA72E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2DBCD4-B2F4-2309-86EE-BFD0E3639D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393A0A-525B-BD0F-1479-ECDC8F4ECB8E}"/>
              </a:ext>
            </a:extLst>
          </p:cNvPr>
          <p:cNvSpPr>
            <a:spLocks noGrp="1"/>
          </p:cNvSpPr>
          <p:nvPr>
            <p:ph type="dt" sz="half" idx="10"/>
          </p:nvPr>
        </p:nvSpPr>
        <p:spPr/>
        <p:txBody>
          <a:bodyPr/>
          <a:lstStyle/>
          <a:p>
            <a:fld id="{520E8654-8116-4E0E-8E26-97EBFE580833}" type="datetimeFigureOut">
              <a:rPr lang="en-IN" smtClean="0"/>
              <a:t>29-02-2024</a:t>
            </a:fld>
            <a:endParaRPr lang="en-IN"/>
          </a:p>
        </p:txBody>
      </p:sp>
      <p:sp>
        <p:nvSpPr>
          <p:cNvPr id="5" name="Footer Placeholder 4">
            <a:extLst>
              <a:ext uri="{FF2B5EF4-FFF2-40B4-BE49-F238E27FC236}">
                <a16:creationId xmlns:a16="http://schemas.microsoft.com/office/drawing/2014/main" id="{7ED8F76A-932A-A05D-1123-2ABE9D7819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A952B4-71E0-8902-427E-8E0EE4C031F6}"/>
              </a:ext>
            </a:extLst>
          </p:cNvPr>
          <p:cNvSpPr>
            <a:spLocks noGrp="1"/>
          </p:cNvSpPr>
          <p:nvPr>
            <p:ph type="sldNum" sz="quarter" idx="12"/>
          </p:nvPr>
        </p:nvSpPr>
        <p:spPr/>
        <p:txBody>
          <a:bodyPr/>
          <a:lstStyle/>
          <a:p>
            <a:fld id="{10147BD8-F6C3-4466-99B3-C46876EB8254}" type="slidenum">
              <a:rPr lang="en-IN" smtClean="0"/>
              <a:t>‹#›</a:t>
            </a:fld>
            <a:endParaRPr lang="en-IN"/>
          </a:p>
        </p:txBody>
      </p:sp>
    </p:spTree>
    <p:extLst>
      <p:ext uri="{BB962C8B-B14F-4D97-AF65-F5344CB8AC3E}">
        <p14:creationId xmlns:p14="http://schemas.microsoft.com/office/powerpoint/2010/main" val="1457886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41BAF5-08C7-A44E-F0CC-A93A06A14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BEA1BF-594B-C189-AA04-48A95B2944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CC3720-9FEA-A41A-20B0-D00486B986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0E8654-8116-4E0E-8E26-97EBFE580833}" type="datetimeFigureOut">
              <a:rPr lang="en-IN" smtClean="0"/>
              <a:t>29-02-2024</a:t>
            </a:fld>
            <a:endParaRPr lang="en-IN"/>
          </a:p>
        </p:txBody>
      </p:sp>
      <p:sp>
        <p:nvSpPr>
          <p:cNvPr id="5" name="Footer Placeholder 4">
            <a:extLst>
              <a:ext uri="{FF2B5EF4-FFF2-40B4-BE49-F238E27FC236}">
                <a16:creationId xmlns:a16="http://schemas.microsoft.com/office/drawing/2014/main" id="{93D5DA9A-669B-8584-7B19-4827EDFAB2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1B2DB8-0BE3-393F-91FF-3427CE35A9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147BD8-F6C3-4466-99B3-C46876EB8254}" type="slidenum">
              <a:rPr lang="en-IN" smtClean="0"/>
              <a:t>‹#›</a:t>
            </a:fld>
            <a:endParaRPr lang="en-IN"/>
          </a:p>
        </p:txBody>
      </p:sp>
    </p:spTree>
    <p:extLst>
      <p:ext uri="{BB962C8B-B14F-4D97-AF65-F5344CB8AC3E}">
        <p14:creationId xmlns:p14="http://schemas.microsoft.com/office/powerpoint/2010/main" val="3384734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tangle 3">
            <a:extLst>
              <a:ext uri="{FF2B5EF4-FFF2-40B4-BE49-F238E27FC236}">
                <a16:creationId xmlns:a16="http://schemas.microsoft.com/office/drawing/2014/main" id="{7FBD0836-87D3-DEB4-99BD-DC7553D37182}"/>
              </a:ext>
            </a:extLst>
          </p:cNvPr>
          <p:cNvSpPr/>
          <p:nvPr/>
        </p:nvSpPr>
        <p:spPr>
          <a:xfrm>
            <a:off x="3315031" y="1380754"/>
            <a:ext cx="5561938" cy="2513516"/>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600" b="1" kern="1200" cap="none" spc="0">
                <a:ln w="12700">
                  <a:solidFill>
                    <a:schemeClr val="tx2">
                      <a:lumMod val="75000"/>
                    </a:schemeClr>
                  </a:solidFill>
                  <a:prstDash val="solid"/>
                </a:ln>
                <a:solidFill>
                  <a:schemeClr val="tx1"/>
                </a:solidFill>
                <a:effectLst>
                  <a:outerShdw dist="38100" dir="2640000" algn="bl" rotWithShape="0">
                    <a:schemeClr val="tx2">
                      <a:lumMod val="75000"/>
                    </a:schemeClr>
                  </a:outerShdw>
                </a:effectLst>
                <a:latin typeface="+mj-lt"/>
                <a:ea typeface="+mj-ea"/>
                <a:cs typeface="+mj-cs"/>
              </a:rPr>
              <a:t>SUMMER TRAINING REPORT</a:t>
            </a:r>
          </a:p>
        </p:txBody>
      </p:sp>
      <p:sp>
        <p:nvSpPr>
          <p:cNvPr id="17" name="Arc 16">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Oval 18">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6777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6" name="Group 15">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17"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8"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
        <p:nvSpPr>
          <p:cNvPr id="4" name="Rectangle 3">
            <a:extLst>
              <a:ext uri="{FF2B5EF4-FFF2-40B4-BE49-F238E27FC236}">
                <a16:creationId xmlns:a16="http://schemas.microsoft.com/office/drawing/2014/main" id="{4512282D-5EBF-745B-A6C5-5911D5ECCBE3}"/>
              </a:ext>
            </a:extLst>
          </p:cNvPr>
          <p:cNvSpPr/>
          <p:nvPr/>
        </p:nvSpPr>
        <p:spPr>
          <a:xfrm>
            <a:off x="643467" y="3420167"/>
            <a:ext cx="7047923" cy="1139414"/>
          </a:xfrm>
          <a:prstGeom prst="rect">
            <a:avLst/>
          </a:prstGeom>
          <a:noFill/>
        </p:spPr>
        <p:txBody>
          <a:bodyPr wrap="square" lIns="91440" tIns="45720" rIns="91440" bIns="45720">
            <a:spAutoFit/>
          </a:bodyPr>
          <a:lstStyle/>
          <a:p>
            <a:pPr algn="ctr" defTabSz="576072">
              <a:spcAft>
                <a:spcPts val="600"/>
              </a:spcAft>
            </a:pPr>
            <a:r>
              <a:rPr lang="en-US" sz="3402" b="1" kern="120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n-lt"/>
                <a:ea typeface="+mn-ea"/>
                <a:cs typeface="+mn-cs"/>
              </a:rPr>
              <a:t>COURSE NAME: MICROLEARING PROGRAM FOR JAVASCRIPT </a:t>
            </a:r>
            <a:endParaRPr lang="en-IN"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7" name="Rectangle 6">
            <a:extLst>
              <a:ext uri="{FF2B5EF4-FFF2-40B4-BE49-F238E27FC236}">
                <a16:creationId xmlns:a16="http://schemas.microsoft.com/office/drawing/2014/main" id="{04E96471-3A0C-E048-FAB1-BC35CCCF83F7}"/>
              </a:ext>
            </a:extLst>
          </p:cNvPr>
          <p:cNvSpPr/>
          <p:nvPr/>
        </p:nvSpPr>
        <p:spPr>
          <a:xfrm>
            <a:off x="1547473" y="2325435"/>
            <a:ext cx="5373586" cy="615874"/>
          </a:xfrm>
          <a:prstGeom prst="rect">
            <a:avLst/>
          </a:prstGeom>
          <a:noFill/>
        </p:spPr>
        <p:txBody>
          <a:bodyPr wrap="none" lIns="91440" tIns="45720" rIns="91440" bIns="45720">
            <a:spAutoFit/>
          </a:bodyPr>
          <a:lstStyle/>
          <a:p>
            <a:pPr algn="ctr" defTabSz="576072">
              <a:spcAft>
                <a:spcPts val="600"/>
              </a:spcAft>
            </a:pPr>
            <a:r>
              <a:rPr lang="en-US" sz="3402" b="1" kern="120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mn-lt"/>
                <a:ea typeface="+mn-ea"/>
                <a:cs typeface="+mn-cs"/>
              </a:rPr>
              <a:t>PLATFORM: BOARD INFINITY</a:t>
            </a:r>
            <a:endParaRPr lang="en-IN" sz="54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2570821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F0995D0-02A8-5A28-52C7-4644EB299D22}"/>
              </a:ext>
            </a:extLst>
          </p:cNvPr>
          <p:cNvSpPr/>
          <p:nvPr/>
        </p:nvSpPr>
        <p:spPr>
          <a:xfrm>
            <a:off x="6513788" y="365125"/>
            <a:ext cx="4840010" cy="180730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cap="none" spc="0">
                <a:ln w="12700" cmpd="sng">
                  <a:solidFill>
                    <a:schemeClr val="accent4"/>
                  </a:solidFill>
                  <a:prstDash val="solid"/>
                </a:ln>
                <a:effectLst/>
                <a:latin typeface="+mj-lt"/>
                <a:ea typeface="+mj-ea"/>
                <a:cs typeface="+mj-cs"/>
              </a:rPr>
              <a:t>INTRODUCTION: BOARD INFINITY</a:t>
            </a:r>
          </a:p>
        </p:txBody>
      </p:sp>
      <p:pic>
        <p:nvPicPr>
          <p:cNvPr id="6" name="Picture 5" descr="Old computer monitors">
            <a:extLst>
              <a:ext uri="{FF2B5EF4-FFF2-40B4-BE49-F238E27FC236}">
                <a16:creationId xmlns:a16="http://schemas.microsoft.com/office/drawing/2014/main" id="{AE7B297D-7A25-8098-66E7-08491C8EE35E}"/>
              </a:ext>
            </a:extLst>
          </p:cNvPr>
          <p:cNvPicPr>
            <a:picLocks noChangeAspect="1"/>
          </p:cNvPicPr>
          <p:nvPr/>
        </p:nvPicPr>
        <p:blipFill rotWithShape="1">
          <a:blip r:embed="rId2"/>
          <a:srcRect l="17216" r="23919"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9CB1B847-166A-09D4-B348-A0A8EFADB226}"/>
              </a:ext>
            </a:extLst>
          </p:cNvPr>
          <p:cNvSpPr>
            <a:spLocks noGrp="1"/>
          </p:cNvSpPr>
          <p:nvPr>
            <p:ph idx="1"/>
          </p:nvPr>
        </p:nvSpPr>
        <p:spPr>
          <a:xfrm>
            <a:off x="6513788" y="2333297"/>
            <a:ext cx="4840010" cy="3843666"/>
          </a:xfrm>
        </p:spPr>
        <p:txBody>
          <a:bodyPr vert="horz" lIns="91440" tIns="45720" rIns="91440" bIns="45720" rtlCol="0">
            <a:normAutofit/>
          </a:bodyPr>
          <a:lstStyle/>
          <a:p>
            <a:pPr marL="0" indent="0">
              <a:buNone/>
            </a:pPr>
            <a:r>
              <a:rPr lang="en-US" sz="1600" dirty="0"/>
              <a:t>Board Infinity stands as a cutting-edge online learning</a:t>
            </a:r>
          </a:p>
          <a:p>
            <a:pPr marL="0" indent="0">
              <a:buNone/>
            </a:pPr>
            <a:r>
              <a:rPr lang="en-US" sz="1600" dirty="0"/>
              <a:t>platform that offers an extensive array of courses and</a:t>
            </a:r>
          </a:p>
          <a:p>
            <a:pPr marL="0" indent="0">
              <a:buNone/>
            </a:pPr>
            <a:r>
              <a:rPr lang="en-US" sz="1600" dirty="0"/>
              <a:t>programs tailored to help individuals cultivate fresh</a:t>
            </a:r>
          </a:p>
          <a:p>
            <a:pPr marL="0" indent="0">
              <a:buNone/>
            </a:pPr>
            <a:r>
              <a:rPr lang="en-US" sz="1600" dirty="0"/>
              <a:t>skills and propel their careers forward. The platform</a:t>
            </a:r>
          </a:p>
          <a:p>
            <a:pPr marL="0" indent="0">
              <a:buNone/>
            </a:pPr>
            <a:r>
              <a:rPr lang="en-US" sz="1600" dirty="0"/>
              <a:t>distinguishes itself by its practical and industry-centric</a:t>
            </a:r>
          </a:p>
          <a:p>
            <a:pPr marL="0" indent="0">
              <a:buNone/>
            </a:pPr>
            <a:r>
              <a:rPr lang="en-US" sz="1600" dirty="0"/>
              <a:t>approach, delivering knowledge through micro-learning</a:t>
            </a:r>
          </a:p>
          <a:p>
            <a:pPr marL="0" indent="0">
              <a:buNone/>
            </a:pPr>
            <a:r>
              <a:rPr lang="en-US" sz="1600" dirty="0"/>
              <a:t>modules. These compact and easily digestible segments</a:t>
            </a:r>
          </a:p>
          <a:p>
            <a:pPr marL="0" indent="0">
              <a:buNone/>
            </a:pPr>
            <a:r>
              <a:rPr lang="en-US" sz="1600" dirty="0"/>
              <a:t>grant learners swift access to content that's highly</a:t>
            </a:r>
          </a:p>
          <a:p>
            <a:pPr marL="0" indent="0">
              <a:buNone/>
            </a:pPr>
            <a:r>
              <a:rPr lang="en-US" sz="1600" dirty="0"/>
              <a:t>relevant in real-world scenarios.</a:t>
            </a:r>
          </a:p>
        </p:txBody>
      </p:sp>
    </p:spTree>
    <p:extLst>
      <p:ext uri="{BB962C8B-B14F-4D97-AF65-F5344CB8AC3E}">
        <p14:creationId xmlns:p14="http://schemas.microsoft.com/office/powerpoint/2010/main" val="3807167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3">
            <a:extLst>
              <a:ext uri="{FF2B5EF4-FFF2-40B4-BE49-F238E27FC236}">
                <a16:creationId xmlns:a16="http://schemas.microsoft.com/office/drawing/2014/main" id="{6F967938-D7E4-0F25-0B13-AFD227747B4C}"/>
              </a:ext>
            </a:extLst>
          </p:cNvPr>
          <p:cNvSpPr/>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cap="none" spc="0">
                <a:ln w="12700">
                  <a:solidFill>
                    <a:schemeClr val="accent1"/>
                  </a:solidFill>
                  <a:prstDash val="solid"/>
                </a:ln>
                <a:solidFill>
                  <a:schemeClr val="tx1"/>
                </a:solidFill>
                <a:effectLst>
                  <a:outerShdw dist="38100" dir="2640000" algn="bl" rotWithShape="0">
                    <a:schemeClr val="accent1"/>
                  </a:outerShdw>
                </a:effectLst>
                <a:latin typeface="+mj-lt"/>
                <a:ea typeface="+mj-ea"/>
                <a:cs typeface="+mj-cs"/>
              </a:rPr>
              <a:t>INTRODUCTION: JAVASCRIPT</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60EE634-2CF6-3A97-6989-37B818DE1CB7}"/>
              </a:ext>
            </a:extLst>
          </p:cNvPr>
          <p:cNvSpPr>
            <a:spLocks noGrp="1"/>
          </p:cNvSpPr>
          <p:nvPr>
            <p:ph idx="1"/>
          </p:nvPr>
        </p:nvSpPr>
        <p:spPr>
          <a:xfrm>
            <a:off x="838200" y="1825625"/>
            <a:ext cx="10515600" cy="4351338"/>
          </a:xfrm>
        </p:spPr>
        <p:txBody>
          <a:bodyPr vert="horz" lIns="91440" tIns="45720" rIns="91440" bIns="45720" rtlCol="0">
            <a:normAutofit/>
          </a:bodyPr>
          <a:lstStyle/>
          <a:p>
            <a:pPr marL="0" indent="0">
              <a:buNone/>
            </a:pPr>
            <a:r>
              <a:rPr lang="en-US" sz="2600" dirty="0"/>
              <a:t>The inception of JavaScript can be attributed to</a:t>
            </a:r>
          </a:p>
          <a:p>
            <a:pPr marL="0" indent="0">
              <a:buNone/>
            </a:pPr>
            <a:r>
              <a:rPr lang="en-US" sz="2600" dirty="0"/>
              <a:t>Brendan </a:t>
            </a:r>
            <a:r>
              <a:rPr lang="en-US" sz="2600" dirty="0" err="1"/>
              <a:t>Eich</a:t>
            </a:r>
            <a:r>
              <a:rPr lang="en-US" sz="2600" dirty="0"/>
              <a:t> during his tenure at Netscape</a:t>
            </a:r>
          </a:p>
          <a:p>
            <a:pPr marL="0" indent="0">
              <a:buNone/>
            </a:pPr>
            <a:r>
              <a:rPr lang="en-US" sz="2600" dirty="0"/>
              <a:t>Communications in the mid-1990s. Initially dubbed</a:t>
            </a:r>
          </a:p>
          <a:p>
            <a:pPr marL="0" indent="0">
              <a:buNone/>
            </a:pPr>
            <a:r>
              <a:rPr lang="en-US" sz="2600" dirty="0"/>
              <a:t>"</a:t>
            </a:r>
            <a:r>
              <a:rPr lang="en-US" sz="2600" dirty="0">
                <a:solidFill>
                  <a:srgbClr val="FF0000"/>
                </a:solidFill>
              </a:rPr>
              <a:t>Mocha</a:t>
            </a:r>
            <a:r>
              <a:rPr lang="en-US" sz="2600" dirty="0"/>
              <a:t>" and later rebranded as "</a:t>
            </a:r>
            <a:r>
              <a:rPr lang="en-US" sz="2600" dirty="0">
                <a:solidFill>
                  <a:srgbClr val="FF0000"/>
                </a:solidFill>
              </a:rPr>
              <a:t>LiveScript</a:t>
            </a:r>
            <a:r>
              <a:rPr lang="en-US" sz="2600" dirty="0"/>
              <a:t>," the</a:t>
            </a:r>
          </a:p>
          <a:p>
            <a:pPr marL="0" indent="0">
              <a:buNone/>
            </a:pPr>
            <a:r>
              <a:rPr lang="en-US" sz="2600" dirty="0"/>
              <a:t>language eventually adopted the name </a:t>
            </a:r>
            <a:r>
              <a:rPr lang="en-US" sz="2600" dirty="0">
                <a:solidFill>
                  <a:srgbClr val="FF0000"/>
                </a:solidFill>
              </a:rPr>
              <a:t>JavaScript</a:t>
            </a:r>
            <a:r>
              <a:rPr lang="en-US" sz="2600" dirty="0"/>
              <a:t> to</a:t>
            </a:r>
          </a:p>
          <a:p>
            <a:pPr marL="0" indent="0">
              <a:buNone/>
            </a:pPr>
            <a:r>
              <a:rPr lang="en-US" sz="2600" dirty="0"/>
              <a:t>capitalize on the growing popularity of Java. It's</a:t>
            </a:r>
          </a:p>
          <a:p>
            <a:pPr marL="0" indent="0">
              <a:buNone/>
            </a:pPr>
            <a:r>
              <a:rPr lang="en-US" sz="2600" dirty="0"/>
              <a:t>important to note that while the names are linked,</a:t>
            </a:r>
          </a:p>
          <a:p>
            <a:pPr marL="0" indent="0">
              <a:buNone/>
            </a:pPr>
            <a:r>
              <a:rPr lang="en-US" sz="2600" dirty="0"/>
              <a:t>JavaScript and Java are distinct languages, each serving unique purposes.</a:t>
            </a:r>
          </a:p>
        </p:txBody>
      </p:sp>
    </p:spTree>
    <p:extLst>
      <p:ext uri="{BB962C8B-B14F-4D97-AF65-F5344CB8AC3E}">
        <p14:creationId xmlns:p14="http://schemas.microsoft.com/office/powerpoint/2010/main" val="28696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8">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10">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9AE4A0E-ABE7-6F11-58E5-DC7433B457F0}"/>
              </a:ext>
            </a:extLst>
          </p:cNvPr>
          <p:cNvSpPr/>
          <p:nvPr/>
        </p:nvSpPr>
        <p:spPr>
          <a:xfrm>
            <a:off x="956826" y="1112969"/>
            <a:ext cx="3937298" cy="416601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cap="none" spc="0">
                <a:ln w="12700">
                  <a:solidFill>
                    <a:schemeClr val="tx2">
                      <a:lumMod val="75000"/>
                    </a:schemeClr>
                  </a:solidFill>
                  <a:prstDash val="solid"/>
                </a:ln>
                <a:solidFill>
                  <a:srgbClr val="FFFFFF"/>
                </a:solidFill>
                <a:effectLst>
                  <a:outerShdw dist="38100" dir="2640000" algn="bl" rotWithShape="0">
                    <a:schemeClr val="tx2">
                      <a:lumMod val="75000"/>
                    </a:schemeClr>
                  </a:outerShdw>
                </a:effectLst>
                <a:latin typeface="+mj-lt"/>
                <a:ea typeface="+mj-ea"/>
                <a:cs typeface="+mj-cs"/>
              </a:rPr>
              <a:t>ROLES IN WEB DEVELOPMENT</a:t>
            </a:r>
          </a:p>
        </p:txBody>
      </p:sp>
      <p:sp>
        <p:nvSpPr>
          <p:cNvPr id="30" name="Freeform: Shape 12">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14">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2" name="Freeform: Shape 16">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Content Placeholder 2">
            <a:extLst>
              <a:ext uri="{FF2B5EF4-FFF2-40B4-BE49-F238E27FC236}">
                <a16:creationId xmlns:a16="http://schemas.microsoft.com/office/drawing/2014/main" id="{3D7A4473-2752-BC00-EBFA-54B62B87AF8C}"/>
              </a:ext>
            </a:extLst>
          </p:cNvPr>
          <p:cNvSpPr>
            <a:spLocks noGrp="1"/>
          </p:cNvSpPr>
          <p:nvPr>
            <p:ph idx="1"/>
          </p:nvPr>
        </p:nvSpPr>
        <p:spPr>
          <a:xfrm>
            <a:off x="6096000" y="820880"/>
            <a:ext cx="5257799" cy="4889350"/>
          </a:xfrm>
        </p:spPr>
        <p:txBody>
          <a:bodyPr vert="horz" lIns="91440" tIns="45720" rIns="91440" bIns="45720" rtlCol="0" anchor="t">
            <a:normAutofit/>
          </a:bodyPr>
          <a:lstStyle/>
          <a:p>
            <a:pPr marL="0"/>
            <a:r>
              <a:rPr lang="en-US" sz="2000"/>
              <a:t>The role of JavaScript in web development centers on elevating user experiences by introducing interactivity and dynamism to websites and web applications. Unlike HTML (Hypertext Markup Language) and CSS (Cascading Style Sheets), which handle structure and presentation respectively, JavaScript is dedicated to behavior and functionality.</a:t>
            </a:r>
          </a:p>
          <a:p>
            <a:pPr marL="0"/>
            <a:r>
              <a:rPr lang="en-US" sz="2000"/>
              <a:t>In the contemporary landscape, JavaScript has become an indispensable component of modern web development, enabling the creation of everything from basic interactive widgets to intricate single-page applications (SPAs). It underpins critical features including form validation, real-time updates, interactive maps, multimedia playback, animations, and more.</a:t>
            </a:r>
          </a:p>
        </p:txBody>
      </p:sp>
      <p:sp>
        <p:nvSpPr>
          <p:cNvPr id="34" name="Freeform: Shape 18">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5" name="Freeform: Shape 20">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6" name="Freeform: Shape 22">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90491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2EC68D8-57E9-BEFF-C663-A7A02BFEB8E8}"/>
              </a:ext>
            </a:extLst>
          </p:cNvPr>
          <p:cNvSpPr/>
          <p:nvPr/>
        </p:nvSpPr>
        <p:spPr>
          <a:xfrm>
            <a:off x="686834" y="591344"/>
            <a:ext cx="3200400" cy="558561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cap="none" spc="0" dirty="0">
                <a:ln w="12700">
                  <a:solidFill>
                    <a:schemeClr val="tx2">
                      <a:lumMod val="75000"/>
                    </a:schemeClr>
                  </a:solidFill>
                  <a:prstDash val="solid"/>
                </a:ln>
                <a:solidFill>
                  <a:srgbClr val="FFFFFF"/>
                </a:solidFill>
                <a:effectLst>
                  <a:outerShdw dist="38100" dir="2640000" algn="bl" rotWithShape="0">
                    <a:schemeClr val="tx2">
                      <a:lumMod val="75000"/>
                    </a:schemeClr>
                  </a:outerShdw>
                </a:effectLst>
                <a:latin typeface="+mj-lt"/>
                <a:ea typeface="+mj-ea"/>
                <a:cs typeface="+mj-cs"/>
              </a:rPr>
              <a:t>FUNDAMENT-ALS OF JAVASCRIPT</a:t>
            </a:r>
          </a:p>
          <a:p>
            <a:pPr>
              <a:lnSpc>
                <a:spcPct val="90000"/>
              </a:lnSpc>
              <a:spcBef>
                <a:spcPct val="0"/>
              </a:spcBef>
              <a:spcAft>
                <a:spcPts val="600"/>
              </a:spcAft>
            </a:pPr>
            <a:endParaRPr lang="en-US" sz="4400" b="1" kern="1200" cap="none" spc="0" dirty="0">
              <a:ln w="12700">
                <a:solidFill>
                  <a:schemeClr val="tx2">
                    <a:lumMod val="75000"/>
                  </a:schemeClr>
                </a:solidFill>
                <a:prstDash val="solid"/>
              </a:ln>
              <a:solidFill>
                <a:srgbClr val="FFFFFF"/>
              </a:solidFill>
              <a:effectLst>
                <a:outerShdw dist="38100" dir="2640000" algn="bl" rotWithShape="0">
                  <a:schemeClr val="tx2">
                    <a:lumMod val="75000"/>
                  </a:schemeClr>
                </a:outerShdw>
              </a:effectLst>
              <a:latin typeface="+mj-lt"/>
              <a:ea typeface="+mj-ea"/>
              <a:cs typeface="+mj-cs"/>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F2D1C3F-1DC6-6592-4CB4-9D2A8BBF1A97}"/>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n-US" sz="2200" dirty="0"/>
              <a:t>JavaScript, often abbreviated as JS, stands as a versatile</a:t>
            </a:r>
          </a:p>
          <a:p>
            <a:pPr marL="0" indent="0">
              <a:buNone/>
            </a:pPr>
            <a:r>
              <a:rPr lang="en-US" sz="2200" dirty="0"/>
              <a:t>and extensively utilized programming language</a:t>
            </a:r>
          </a:p>
          <a:p>
            <a:pPr marL="0" indent="0">
              <a:buNone/>
            </a:pPr>
            <a:r>
              <a:rPr lang="en-US" sz="2200" dirty="0"/>
              <a:t>renowned for its pivotal role in the domain of web</a:t>
            </a:r>
          </a:p>
          <a:p>
            <a:pPr marL="0" indent="0">
              <a:buNone/>
            </a:pPr>
            <a:r>
              <a:rPr lang="en-US" sz="2200" dirty="0"/>
              <a:t>development. It empowers the creation of dynamic and</a:t>
            </a:r>
          </a:p>
          <a:p>
            <a:pPr marL="0" indent="0">
              <a:buNone/>
            </a:pPr>
            <a:r>
              <a:rPr lang="en-US" sz="2200" dirty="0"/>
              <a:t>interactive content on web pages, enriching user</a:t>
            </a:r>
          </a:p>
          <a:p>
            <a:pPr marL="0" indent="0">
              <a:buNone/>
            </a:pPr>
            <a:r>
              <a:rPr lang="en-US" sz="2200" dirty="0"/>
              <a:t>experiences through the integration of functionality,</a:t>
            </a:r>
          </a:p>
          <a:p>
            <a:pPr marL="0" indent="0">
              <a:buNone/>
            </a:pPr>
            <a:r>
              <a:rPr lang="en-US" sz="2200" dirty="0"/>
              <a:t>interactivity, and responsiveness. Within the realm of</a:t>
            </a:r>
          </a:p>
          <a:p>
            <a:pPr marL="0" indent="0">
              <a:buNone/>
            </a:pPr>
            <a:r>
              <a:rPr lang="en-US" sz="2200" dirty="0"/>
              <a:t>modern web development, JavaScript assumes a</a:t>
            </a:r>
          </a:p>
          <a:p>
            <a:pPr marL="0" indent="0">
              <a:buNone/>
            </a:pPr>
            <a:r>
              <a:rPr lang="en-US" sz="2200" dirty="0"/>
              <a:t>foundational role, empowering developers to craft a</a:t>
            </a:r>
          </a:p>
          <a:p>
            <a:pPr marL="0" indent="0">
              <a:buNone/>
            </a:pPr>
            <a:r>
              <a:rPr lang="en-US" sz="2200" dirty="0"/>
              <a:t>diverse range of creations, spanning from</a:t>
            </a:r>
          </a:p>
          <a:p>
            <a:pPr marL="0" indent="0">
              <a:buNone/>
            </a:pPr>
            <a:r>
              <a:rPr lang="en-US" sz="2200" dirty="0"/>
              <a:t>straightforward interactive elements to intricate web</a:t>
            </a:r>
          </a:p>
          <a:p>
            <a:pPr marL="0" indent="0">
              <a:buNone/>
            </a:pPr>
            <a:r>
              <a:rPr lang="en-US" sz="2200" dirty="0"/>
              <a:t>applications.</a:t>
            </a:r>
          </a:p>
        </p:txBody>
      </p:sp>
    </p:spTree>
    <p:extLst>
      <p:ext uri="{BB962C8B-B14F-4D97-AF65-F5344CB8AC3E}">
        <p14:creationId xmlns:p14="http://schemas.microsoft.com/office/powerpoint/2010/main" val="3395760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2A1905-1E63-C338-3E22-948884BBF433}"/>
              </a:ext>
            </a:extLst>
          </p:cNvPr>
          <p:cNvSpPr>
            <a:spLocks noGrp="1"/>
          </p:cNvSpPr>
          <p:nvPr>
            <p:ph idx="1"/>
          </p:nvPr>
        </p:nvSpPr>
        <p:spPr>
          <a:xfrm>
            <a:off x="820272" y="1637348"/>
            <a:ext cx="5715000" cy="4888940"/>
          </a:xfrm>
        </p:spPr>
        <p:txBody>
          <a:bodyPr/>
          <a:lstStyle/>
          <a:p>
            <a:pPr marL="0" indent="0">
              <a:buNone/>
            </a:pPr>
            <a:r>
              <a:rPr lang="en-US" dirty="0"/>
              <a:t>JavaScript, HTML, and CSS are foundational</a:t>
            </a:r>
          </a:p>
          <a:p>
            <a:pPr marL="0" indent="0">
              <a:buNone/>
            </a:pPr>
            <a:r>
              <a:rPr lang="en-US" dirty="0"/>
              <a:t>technologies in web development, each serving distinct roles, often working in harmony to create dynamic, interactive websites. Using JavaScript alongside HTML and CSS offers several benefits:</a:t>
            </a:r>
          </a:p>
          <a:p>
            <a:pPr marL="0" indent="0">
              <a:buNone/>
            </a:pPr>
            <a:endParaRPr lang="en-IN" dirty="0"/>
          </a:p>
        </p:txBody>
      </p:sp>
      <p:sp>
        <p:nvSpPr>
          <p:cNvPr id="4" name="Rectangle 3">
            <a:extLst>
              <a:ext uri="{FF2B5EF4-FFF2-40B4-BE49-F238E27FC236}">
                <a16:creationId xmlns:a16="http://schemas.microsoft.com/office/drawing/2014/main" id="{ADA972DE-B8A8-B094-6463-0B30892232B8}"/>
              </a:ext>
            </a:extLst>
          </p:cNvPr>
          <p:cNvSpPr/>
          <p:nvPr/>
        </p:nvSpPr>
        <p:spPr>
          <a:xfrm>
            <a:off x="2416563" y="331712"/>
            <a:ext cx="7358874" cy="923330"/>
          </a:xfrm>
          <a:prstGeom prst="rect">
            <a:avLst/>
          </a:prstGeom>
          <a:noFill/>
        </p:spPr>
        <p:txBody>
          <a:bodyPr wrap="non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WHY TO USE JAVASCRIPT</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graphicFrame>
        <p:nvGraphicFramePr>
          <p:cNvPr id="5" name="Diagram 4">
            <a:extLst>
              <a:ext uri="{FF2B5EF4-FFF2-40B4-BE49-F238E27FC236}">
                <a16:creationId xmlns:a16="http://schemas.microsoft.com/office/drawing/2014/main" id="{CE68EA0E-7C1D-7EE8-E536-80001BD5801C}"/>
              </a:ext>
            </a:extLst>
          </p:cNvPr>
          <p:cNvGraphicFramePr/>
          <p:nvPr>
            <p:extLst>
              <p:ext uri="{D42A27DB-BD31-4B8C-83A1-F6EECF244321}">
                <p14:modId xmlns:p14="http://schemas.microsoft.com/office/powerpoint/2010/main" val="3824605367"/>
              </p:ext>
            </p:extLst>
          </p:nvPr>
        </p:nvGraphicFramePr>
        <p:xfrm>
          <a:off x="6391837" y="1524000"/>
          <a:ext cx="5620870" cy="46322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4186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9">
            <a:extLst>
              <a:ext uri="{FF2B5EF4-FFF2-40B4-BE49-F238E27FC236}">
                <a16:creationId xmlns:a16="http://schemas.microsoft.com/office/drawing/2014/main" id="{3001AFEA-2442-4A9F-BA37-8C469F306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Rectangle 4">
            <a:extLst>
              <a:ext uri="{FF2B5EF4-FFF2-40B4-BE49-F238E27FC236}">
                <a16:creationId xmlns:a16="http://schemas.microsoft.com/office/drawing/2014/main" id="{0D951AC1-9F9E-B890-C8B2-74C5096F6FAF}"/>
              </a:ext>
            </a:extLst>
          </p:cNvPr>
          <p:cNvSpPr/>
          <p:nvPr/>
        </p:nvSpPr>
        <p:spPr>
          <a:xfrm>
            <a:off x="970908" y="637046"/>
            <a:ext cx="5174207" cy="297147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000" b="1" kern="1200" cap="none" spc="0">
                <a:ln w="9525">
                  <a:solidFill>
                    <a:schemeClr val="bg1"/>
                  </a:solidFill>
                  <a:prstDash val="solid"/>
                </a:ln>
                <a:solidFill>
                  <a:srgbClr val="FFFFFF"/>
                </a:solidFill>
                <a:effectLst>
                  <a:outerShdw blurRad="12700" dist="38100" dir="2700000" algn="tl" rotWithShape="0">
                    <a:schemeClr val="bg1">
                      <a:lumMod val="50000"/>
                    </a:schemeClr>
                  </a:outerShdw>
                </a:effectLst>
                <a:latin typeface="+mj-lt"/>
                <a:ea typeface="+mj-ea"/>
                <a:cs typeface="+mj-cs"/>
              </a:rPr>
              <a:t>PROJECTS</a:t>
            </a:r>
          </a:p>
        </p:txBody>
      </p:sp>
      <p:sp>
        <p:nvSpPr>
          <p:cNvPr id="40" name="Freeform: Shape 11">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Oval 13">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Block Arc 15">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eeform: Shape 17">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4"/>
          </a:solidFill>
          <a:ln w="9525" cap="flat">
            <a:noFill/>
            <a:prstDash val="solid"/>
            <a:miter/>
          </a:ln>
        </p:spPr>
        <p:txBody>
          <a:bodyPr rtlCol="0" anchor="ctr"/>
          <a:lstStyle/>
          <a:p>
            <a:endParaRPr lang="en-US" dirty="0"/>
          </a:p>
        </p:txBody>
      </p:sp>
      <p:cxnSp>
        <p:nvCxnSpPr>
          <p:cNvPr id="44" name="Straight Connector 19">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5" name="Freeform: Shape 21">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4"/>
          </a:solidFill>
          <a:ln w="9525" cap="flat">
            <a:noFill/>
            <a:prstDash val="solid"/>
            <a:miter/>
          </a:ln>
        </p:spPr>
        <p:txBody>
          <a:bodyPr rtlCol="0" anchor="ctr"/>
          <a:lstStyle/>
          <a:p>
            <a:endParaRPr lang="en-US"/>
          </a:p>
        </p:txBody>
      </p:sp>
      <p:sp>
        <p:nvSpPr>
          <p:cNvPr id="46" name="Arc 23">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872052">
            <a:off x="6113252"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 name="Freeform: Shape 25">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1981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Wristwatch face">
            <a:extLst>
              <a:ext uri="{FF2B5EF4-FFF2-40B4-BE49-F238E27FC236}">
                <a16:creationId xmlns:a16="http://schemas.microsoft.com/office/drawing/2014/main" id="{8AB21ADE-63B4-4681-A307-9EA3AA84C160}"/>
              </a:ext>
            </a:extLst>
          </p:cNvPr>
          <p:cNvPicPr>
            <a:picLocks noChangeAspect="1"/>
          </p:cNvPicPr>
          <p:nvPr/>
        </p:nvPicPr>
        <p:blipFill rotWithShape="1">
          <a:blip r:embed="rId2"/>
          <a:srcRect r="5882" b="-1"/>
          <a:stretch/>
        </p:blipFill>
        <p:spPr>
          <a:xfrm>
            <a:off x="1" y="10"/>
            <a:ext cx="9669642" cy="6857990"/>
          </a:xfrm>
          <a:prstGeom prst="rect">
            <a:avLst/>
          </a:prstGeom>
        </p:spPr>
      </p:pic>
      <p:sp>
        <p:nvSpPr>
          <p:cNvPr id="21"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FC938A50-9700-FB33-C078-FAC716E19FC1}"/>
              </a:ext>
            </a:extLst>
          </p:cNvPr>
          <p:cNvSpPr/>
          <p:nvPr/>
        </p:nvSpPr>
        <p:spPr>
          <a:xfrm>
            <a:off x="7531610" y="365125"/>
            <a:ext cx="3822189" cy="189991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cap="none" spc="0">
                <a:ln w="22225">
                  <a:solidFill>
                    <a:schemeClr val="accent2"/>
                  </a:solidFill>
                  <a:prstDash val="solid"/>
                </a:ln>
                <a:effectLst/>
                <a:latin typeface="+mj-lt"/>
                <a:ea typeface="+mj-ea"/>
                <a:cs typeface="+mj-cs"/>
              </a:rPr>
              <a:t>DIGITAL CLOCK</a:t>
            </a:r>
          </a:p>
        </p:txBody>
      </p:sp>
      <p:sp>
        <p:nvSpPr>
          <p:cNvPr id="3" name="Content Placeholder 2">
            <a:extLst>
              <a:ext uri="{FF2B5EF4-FFF2-40B4-BE49-F238E27FC236}">
                <a16:creationId xmlns:a16="http://schemas.microsoft.com/office/drawing/2014/main" id="{67B573D4-A90A-C0A7-D478-AFE8CCDD4219}"/>
              </a:ext>
            </a:extLst>
          </p:cNvPr>
          <p:cNvSpPr>
            <a:spLocks noGrp="1"/>
          </p:cNvSpPr>
          <p:nvPr>
            <p:ph idx="1"/>
          </p:nvPr>
        </p:nvSpPr>
        <p:spPr>
          <a:xfrm>
            <a:off x="7531610" y="2434201"/>
            <a:ext cx="3822189" cy="3742762"/>
          </a:xfrm>
        </p:spPr>
        <p:txBody>
          <a:bodyPr vert="horz" lIns="91440" tIns="45720" rIns="91440" bIns="45720" rtlCol="0">
            <a:normAutofit/>
          </a:bodyPr>
          <a:lstStyle/>
          <a:p>
            <a:pPr marL="0" indent="0">
              <a:buNone/>
            </a:pPr>
            <a:r>
              <a:rPr lang="en-US" sz="2000" dirty="0"/>
              <a:t>I have built a digital clock that should display the current me and update the time after every second. When the user clicks the `Stop` Button on the clock should stop updating the me. When the user clicks on the `Start` button later the clock should start updating the current time  again</a:t>
            </a:r>
          </a:p>
        </p:txBody>
      </p:sp>
    </p:spTree>
    <p:extLst>
      <p:ext uri="{BB962C8B-B14F-4D97-AF65-F5344CB8AC3E}">
        <p14:creationId xmlns:p14="http://schemas.microsoft.com/office/powerpoint/2010/main" val="2263245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A8C702-0C5B-04A0-932E-7A9380BDC3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23580"/>
            <a:ext cx="12192000" cy="5410840"/>
          </a:xfrm>
          <a:prstGeom prst="rect">
            <a:avLst/>
          </a:prstGeom>
        </p:spPr>
      </p:pic>
    </p:spTree>
    <p:extLst>
      <p:ext uri="{BB962C8B-B14F-4D97-AF65-F5344CB8AC3E}">
        <p14:creationId xmlns:p14="http://schemas.microsoft.com/office/powerpoint/2010/main" val="196948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8">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1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FC2CDDC-E0F6-78B9-1324-9E5F89834F6C}"/>
              </a:ext>
            </a:extLst>
          </p:cNvPr>
          <p:cNvSpPr/>
          <p:nvPr/>
        </p:nvSpPr>
        <p:spPr>
          <a:xfrm>
            <a:off x="1389278" y="1233241"/>
            <a:ext cx="3240506" cy="406462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a:ln w="9525">
                  <a:solidFill>
                    <a:schemeClr val="bg1"/>
                  </a:solidFill>
                  <a:prstDash val="solid"/>
                </a:ln>
                <a:solidFill>
                  <a:srgbClr val="FFFFFF"/>
                </a:solidFill>
                <a:effectLst>
                  <a:outerShdw blurRad="12700" dist="38100" dir="2700000" algn="tl" rotWithShape="0">
                    <a:schemeClr val="bg1">
                      <a:lumMod val="50000"/>
                    </a:schemeClr>
                  </a:outerShdw>
                </a:effectLst>
                <a:latin typeface="+mj-lt"/>
                <a:ea typeface="+mj-ea"/>
                <a:cs typeface="+mj-cs"/>
              </a:rPr>
              <a:t>PROJECT 2: RANDOM QUOTE GENERATOR</a:t>
            </a:r>
            <a:endParaRPr lang="en-US" sz="4400" b="1" kern="1200" cap="none" spc="0">
              <a:ln w="9525">
                <a:solidFill>
                  <a:schemeClr val="bg1"/>
                </a:solidFill>
                <a:prstDash val="solid"/>
              </a:ln>
              <a:solidFill>
                <a:srgbClr val="FFFFFF"/>
              </a:solidFill>
              <a:effectLst>
                <a:outerShdw blurRad="12700" dist="38100" dir="2700000" algn="tl" rotWithShape="0">
                  <a:schemeClr val="bg1">
                    <a:lumMod val="50000"/>
                  </a:schemeClr>
                </a:outerShdw>
              </a:effectLst>
              <a:latin typeface="+mj-lt"/>
              <a:ea typeface="+mj-ea"/>
              <a:cs typeface="+mj-cs"/>
            </a:endParaRPr>
          </a:p>
        </p:txBody>
      </p:sp>
      <p:sp>
        <p:nvSpPr>
          <p:cNvPr id="27" name="Freeform: Shape 12">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14">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9" name="Freeform: Shape 16">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CE71EA42-F613-394F-CAD1-7099F5AF53A3}"/>
              </a:ext>
            </a:extLst>
          </p:cNvPr>
          <p:cNvSpPr>
            <a:spLocks noGrp="1"/>
          </p:cNvSpPr>
          <p:nvPr>
            <p:ph idx="1"/>
          </p:nvPr>
        </p:nvSpPr>
        <p:spPr>
          <a:xfrm>
            <a:off x="6096000" y="820880"/>
            <a:ext cx="5257799" cy="4889350"/>
          </a:xfrm>
        </p:spPr>
        <p:txBody>
          <a:bodyPr vert="horz" lIns="91440" tIns="45720" rIns="91440" bIns="45720" rtlCol="0" anchor="t">
            <a:normAutofit/>
          </a:bodyPr>
          <a:lstStyle/>
          <a:p>
            <a:pPr marL="0" indent="0">
              <a:buNone/>
            </a:pPr>
            <a:endParaRPr lang="en-US" dirty="0"/>
          </a:p>
          <a:p>
            <a:pPr marL="0" indent="0">
              <a:buNone/>
            </a:pPr>
            <a:endParaRPr lang="en-US" dirty="0"/>
          </a:p>
          <a:p>
            <a:pPr marL="0" indent="0">
              <a:buNone/>
            </a:pPr>
            <a:r>
              <a:rPr lang="en-US" dirty="0"/>
              <a:t>I have also made a project on a random quote generator in which I had made a quote generator which works according to me when a subject uses it along with every quote The background color also changes.</a:t>
            </a:r>
          </a:p>
        </p:txBody>
      </p:sp>
      <p:sp>
        <p:nvSpPr>
          <p:cNvPr id="19" name="Freeform: Shape 18">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0" name="Freeform: Shape 22">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912092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8E9AC9-EF0A-3D62-B493-289154DDE8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7873"/>
            <a:ext cx="12192000" cy="5602253"/>
          </a:xfrm>
          <a:prstGeom prst="rect">
            <a:avLst/>
          </a:prstGeom>
        </p:spPr>
      </p:pic>
    </p:spTree>
    <p:extLst>
      <p:ext uri="{BB962C8B-B14F-4D97-AF65-F5344CB8AC3E}">
        <p14:creationId xmlns:p14="http://schemas.microsoft.com/office/powerpoint/2010/main" val="928608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certificate of completion&#10;&#10;Description automatically generated">
            <a:extLst>
              <a:ext uri="{FF2B5EF4-FFF2-40B4-BE49-F238E27FC236}">
                <a16:creationId xmlns:a16="http://schemas.microsoft.com/office/drawing/2014/main" id="{D21A38F1-3053-07E0-9C9E-708B6CE6B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7636" y="387927"/>
            <a:ext cx="9753600" cy="5167746"/>
          </a:xfrm>
          <a:prstGeom prst="rect">
            <a:avLst/>
          </a:prstGeom>
        </p:spPr>
      </p:pic>
    </p:spTree>
    <p:extLst>
      <p:ext uri="{BB962C8B-B14F-4D97-AF65-F5344CB8AC3E}">
        <p14:creationId xmlns:p14="http://schemas.microsoft.com/office/powerpoint/2010/main" val="4061727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8BFC7DD-15D3-7916-37C7-C189A5C21AF2}"/>
              </a:ext>
            </a:extLst>
          </p:cNvPr>
          <p:cNvSpPr/>
          <p:nvPr/>
        </p:nvSpPr>
        <p:spPr>
          <a:xfrm>
            <a:off x="1389278" y="1233241"/>
            <a:ext cx="3240506" cy="406462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cap="none" spc="0">
                <a:ln w="9525">
                  <a:solidFill>
                    <a:schemeClr val="bg1"/>
                  </a:solidFill>
                  <a:prstDash val="solid"/>
                </a:ln>
                <a:solidFill>
                  <a:srgbClr val="FFFFFF"/>
                </a:solidFill>
                <a:effectLst>
                  <a:outerShdw blurRad="12700" dist="38100" dir="2700000" algn="tl" rotWithShape="0">
                    <a:schemeClr val="bg1">
                      <a:lumMod val="50000"/>
                    </a:schemeClr>
                  </a:outerShdw>
                </a:effectLst>
                <a:latin typeface="+mj-lt"/>
                <a:ea typeface="+mj-ea"/>
                <a:cs typeface="+mj-cs"/>
              </a:rPr>
              <a:t>FURTHER PLANS</a:t>
            </a:r>
          </a:p>
        </p:txBody>
      </p:sp>
      <p:sp>
        <p:nvSpPr>
          <p:cNvPr id="13" name="Freeform: Shape 12">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60887E4D-1AA4-858B-1432-41F41D4DD6C8}"/>
              </a:ext>
            </a:extLst>
          </p:cNvPr>
          <p:cNvSpPr>
            <a:spLocks noGrp="1"/>
          </p:cNvSpPr>
          <p:nvPr>
            <p:ph idx="1"/>
          </p:nvPr>
        </p:nvSpPr>
        <p:spPr>
          <a:xfrm>
            <a:off x="6096000" y="820880"/>
            <a:ext cx="5257799" cy="4889350"/>
          </a:xfrm>
        </p:spPr>
        <p:txBody>
          <a:bodyPr vert="horz" lIns="91440" tIns="45720" rIns="91440" bIns="45720" rtlCol="0" anchor="t">
            <a:normAutofit/>
          </a:bodyPr>
          <a:lstStyle/>
          <a:p>
            <a:pPr marL="0"/>
            <a:r>
              <a:rPr lang="en-US" sz="1100" dirty="0"/>
              <a:t>JavaScript is a fundamental language in the world of web development, serving as the backbone for many modern technologies. React.js and React Native are two JavaScript libraries that have transformed the way we create web and mobile applications.</a:t>
            </a:r>
          </a:p>
          <a:p>
            <a:pPr marL="0"/>
            <a:endParaRPr lang="en-US" sz="1100" dirty="0"/>
          </a:p>
          <a:p>
            <a:pPr marL="0"/>
            <a:r>
              <a:rPr lang="en-US" sz="1100" dirty="0"/>
              <a:t>React.js, or React, is a JavaScript library developed by Facebook. It offers a component-based approach to building user interfaces, making it easier to create dynamic and responsive web applications. By breaking down UI elements into reusable components, React promotes code reusability and maintainability. Its declarative style simplifies UI development by allowing developers to describe how the UI should look in different states.</a:t>
            </a:r>
          </a:p>
          <a:p>
            <a:pPr marL="0"/>
            <a:endParaRPr lang="en-US" sz="1100" dirty="0"/>
          </a:p>
          <a:p>
            <a:pPr marL="0"/>
            <a:r>
              <a:rPr lang="en-US" sz="1100" dirty="0"/>
              <a:t>React Native, an extension of React, lets you build mobile apps for iOS and Android using JavaScript. It's a game-changer for developers who want cross-platform compatibility. With React Native, you write code once and run it on multiple platforms, saving time and effort. It provides access to native components and APIs, ensuring your apps feel native.</a:t>
            </a:r>
          </a:p>
          <a:p>
            <a:pPr marL="0"/>
            <a:endParaRPr lang="en-US" sz="1100" dirty="0"/>
          </a:p>
          <a:p>
            <a:pPr marL="0"/>
            <a:r>
              <a:rPr lang="en-US" sz="1100" dirty="0"/>
              <a:t>Both React.js and React Native have active communities, offering resources, libraries, and tools to streamline development. They prioritize performance, delivering smooth user experiences. Mastering these technologies equips you to efficiently create modern web and mobile applications, opening up exciting opportunities in software development.</a:t>
            </a:r>
          </a:p>
        </p:txBody>
      </p:sp>
      <p:sp>
        <p:nvSpPr>
          <p:cNvPr id="19" name="Freeform: Shape 18">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297108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descr="Solo journey">
            <a:extLst>
              <a:ext uri="{FF2B5EF4-FFF2-40B4-BE49-F238E27FC236}">
                <a16:creationId xmlns:a16="http://schemas.microsoft.com/office/drawing/2014/main" id="{22542130-7F14-07FD-4784-C9F0ED84A2BB}"/>
              </a:ext>
            </a:extLst>
          </p:cNvPr>
          <p:cNvPicPr>
            <a:picLocks noChangeAspect="1"/>
          </p:cNvPicPr>
          <p:nvPr/>
        </p:nvPicPr>
        <p:blipFill rotWithShape="1">
          <a:blip r:embed="rId2"/>
          <a:srcRect l="27865" r="19033"/>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2"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73637FC2-11E2-0EC3-BF54-D184726B8FB2}"/>
              </a:ext>
            </a:extLst>
          </p:cNvPr>
          <p:cNvSpPr/>
          <p:nvPr/>
        </p:nvSpPr>
        <p:spPr>
          <a:xfrm>
            <a:off x="5827048" y="407987"/>
            <a:ext cx="5721484"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a:ln w="6600">
                  <a:solidFill>
                    <a:schemeClr val="accent2"/>
                  </a:solidFill>
                  <a:prstDash val="solid"/>
                </a:ln>
                <a:effectLst>
                  <a:outerShdw dist="38100" dir="2700000" algn="tl" rotWithShape="0">
                    <a:schemeClr val="accent2"/>
                  </a:outerShdw>
                </a:effectLst>
                <a:latin typeface="+mj-lt"/>
                <a:ea typeface="+mj-ea"/>
                <a:cs typeface="+mj-cs"/>
              </a:rPr>
              <a:t>CONCLUSION</a:t>
            </a:r>
            <a:endParaRPr lang="en-US" sz="4400" b="1" cap="none" spc="0">
              <a:ln w="6600">
                <a:solidFill>
                  <a:schemeClr val="accent2"/>
                </a:solidFill>
                <a:prstDash val="solid"/>
              </a:ln>
              <a:effectLst>
                <a:outerShdw dist="38100" dir="2700000" algn="tl" rotWithShape="0">
                  <a:schemeClr val="accent2"/>
                </a:outerShdw>
              </a:effectLst>
              <a:latin typeface="+mj-lt"/>
              <a:ea typeface="+mj-ea"/>
              <a:cs typeface="+mj-cs"/>
            </a:endParaRPr>
          </a:p>
        </p:txBody>
      </p:sp>
      <p:sp>
        <p:nvSpPr>
          <p:cNvPr id="3" name="Content Placeholder 2">
            <a:extLst>
              <a:ext uri="{FF2B5EF4-FFF2-40B4-BE49-F238E27FC236}">
                <a16:creationId xmlns:a16="http://schemas.microsoft.com/office/drawing/2014/main" id="{8C891B4F-A3C9-B83A-A1FB-1220AB6E8A59}"/>
              </a:ext>
            </a:extLst>
          </p:cNvPr>
          <p:cNvSpPr>
            <a:spLocks noGrp="1"/>
          </p:cNvSpPr>
          <p:nvPr>
            <p:ph idx="1"/>
          </p:nvPr>
        </p:nvSpPr>
        <p:spPr>
          <a:xfrm>
            <a:off x="5827048" y="1868487"/>
            <a:ext cx="5721484" cy="4351338"/>
          </a:xfrm>
        </p:spPr>
        <p:txBody>
          <a:bodyPr vert="horz" lIns="91440" tIns="45720" rIns="91440" bIns="45720" rtlCol="0">
            <a:normAutofit/>
          </a:bodyPr>
          <a:lstStyle/>
          <a:p>
            <a:pPr marL="0" indent="0">
              <a:buNone/>
            </a:pPr>
            <a:r>
              <a:rPr lang="en-US" sz="1800" dirty="0"/>
              <a:t>In conclusion, the course on JavaScript from Board</a:t>
            </a:r>
          </a:p>
          <a:p>
            <a:pPr marL="0" indent="0">
              <a:buNone/>
            </a:pPr>
            <a:r>
              <a:rPr lang="en-US" sz="1800" dirty="0"/>
              <a:t>Infinity has been an immensely beneficial journey that</a:t>
            </a:r>
          </a:p>
          <a:p>
            <a:pPr marL="0" indent="0">
              <a:buNone/>
            </a:pPr>
            <a:r>
              <a:rPr lang="en-US" sz="1800" dirty="0"/>
              <a:t>has significantly enhanced my understanding and</a:t>
            </a:r>
          </a:p>
          <a:p>
            <a:pPr marL="0" indent="0">
              <a:buNone/>
            </a:pPr>
            <a:r>
              <a:rPr lang="en-US" sz="1800" dirty="0"/>
              <a:t>proficiency in the realm of web development. Through</a:t>
            </a:r>
          </a:p>
          <a:p>
            <a:pPr marL="0" indent="0">
              <a:buNone/>
            </a:pPr>
            <a:r>
              <a:rPr lang="en-US" sz="1800" dirty="0"/>
              <a:t>the well-structured curriculum and the guidance of</a:t>
            </a:r>
          </a:p>
          <a:p>
            <a:pPr marL="0" indent="0">
              <a:buNone/>
            </a:pPr>
            <a:r>
              <a:rPr lang="en-US" sz="1800" dirty="0"/>
              <a:t>experienced instructors, I have not only gained a solid</a:t>
            </a:r>
          </a:p>
          <a:p>
            <a:pPr marL="0" indent="0">
              <a:buNone/>
            </a:pPr>
            <a:r>
              <a:rPr lang="en-US" sz="1800" dirty="0"/>
              <a:t>grasp of the core concepts of JavaScript but also</a:t>
            </a:r>
          </a:p>
          <a:p>
            <a:pPr marL="0" indent="0">
              <a:buNone/>
            </a:pPr>
            <a:r>
              <a:rPr lang="en-US" sz="1800" dirty="0"/>
              <a:t>developed the skills to effectively apply them in real-</a:t>
            </a:r>
          </a:p>
          <a:p>
            <a:pPr marL="0" indent="0">
              <a:buNone/>
            </a:pPr>
            <a:r>
              <a:rPr lang="en-US" sz="1800" dirty="0"/>
              <a:t>world scenarios.</a:t>
            </a:r>
          </a:p>
        </p:txBody>
      </p:sp>
    </p:spTree>
    <p:extLst>
      <p:ext uri="{BB962C8B-B14F-4D97-AF65-F5344CB8AC3E}">
        <p14:creationId xmlns:p14="http://schemas.microsoft.com/office/powerpoint/2010/main" val="3443820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836</Words>
  <Application>Microsoft Office PowerPoint</Application>
  <PresentationFormat>Widescreen</PresentationFormat>
  <Paragraphs>70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lokesh chauhan</dc:creator>
  <cp:lastModifiedBy>Aman Raj</cp:lastModifiedBy>
  <cp:revision>5</cp:revision>
  <dcterms:created xsi:type="dcterms:W3CDTF">2023-09-16T03:15:34Z</dcterms:created>
  <dcterms:modified xsi:type="dcterms:W3CDTF">2024-02-29T09:29:25Z</dcterms:modified>
</cp:coreProperties>
</file>